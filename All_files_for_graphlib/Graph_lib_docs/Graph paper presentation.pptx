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2" r:id="rId14"/>
    <p:sldId id="274" r:id="rId15"/>
    <p:sldId id="275" r:id="rId16"/>
    <p:sldId id="276" r:id="rId17"/>
    <p:sldId id="263" r:id="rId18"/>
    <p:sldId id="264" r:id="rId19"/>
    <p:sldId id="265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4:37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6:44.1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0 142,'223'15,"-9"0,304-16,-489-1,0 0,33-9,-31 5,49-2,114 9,71-2,-164-13,-60 7,55-1,308-14,84 14,-290 10,-31 0,184-5,-289-4,65-15,-74 11,0 3,63-3,-18 12,-47 0,1-1,75-12,-60 1,-39 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6:49.3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1 203,'96'1,"108"-3,-167-2,42-10,-29 4,5-2,-37 7,1 1,31-3,323 5,-187 4,787-2,-950-2,0 0,0-2,0 0,36-13,-35 9,1 1,1 2,35-4,-25 5,0-2,60-18,-19 5,-29 7,-23 5,1 2,-1 0,27 0,164 4,-102 2,-88 1,0 1,0 2,0 0,0 2,42 16,-41-13,1-1,0-1,0-2,46 5,114-9,-98-4,93 12,210 8,-192-4,8 1,914-16,-1084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4:37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7:44.9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28,'551'0,"-500"2,90 18,-101-14,17 7,-40-8,1-1,33 3,373-5,-213-4,2212 2,-2401-2,0 0,0-2,0 0,35-13,-31 9,1 1,37-5,6-2,-22 3,-27 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4:37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20:51.0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60,'235'-28,"-134"19,723-13,-568 24,1223-2,-1451 1,-1 2,35 7,-33-4,55 3,707-7,-382-5,289 3,-674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21:12.3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87,'14'1,"0"0,-1 1,1 1,13 4,14 2,258 28,-121-19,-53-8,173-8,-137-5,29 5,199-4,-271-13,-75 9,58-2,25 7,10 2,189-23,104-17,-223 14,24-2,55 15,430-7,1502 21,-1144-4,-1048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4:37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4:37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24:30.7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22,'0'0,"0"-1,1 0,-1 0,0 0,0 0,1 1,-1-1,0 0,1 0,-1 0,1 1,-1-1,1 0,0 1,-1-1,1 1,0-1,-1 0,1 1,0 0,0-1,-1 1,1-1,0 1,0 0,0-1,-1 1,3 0,25-4,-28 4,48 0,1 3,-1 2,58 12,-42-5,72 3,320-14,-224-3,-195 4,61 11,-58-7,52 3,718-8,-388-3,3634 2,-4044 0,1 0,-1 1,0 1,1 0,-1 0,0 1,0 1,-1 0,12 5,-7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24:35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60,'4645'0,"-4601"-2,63-11,-62 6,58-1,470 9,-550-2,0-1,35-9,-31 6,36-4,344 6,-211 6,-128-5,75 4,-92 10,-34-7,3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4:37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25:31.4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1 205,'483'0,"-447"-1,59-12,4 0,-75 12,135-9,253-48,-261 19,-126 34,1 2,0 0,43 1,-39 2,0-1,35-6,21-4,-1 4,158 6,-104 3,1114-2,-1216-2,65-11,-65 6,63-2,718 10,-761 2,59 10,56 2,-129-12,52 8,37 3,574-12,-339-4,-42 2,-300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25:37.5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63,'180'-12,"-59"1,693 3,-490 10,-202-3,139 3,-155 12,-74-8,60 3,-46-11,-1-2,0-2,49-13,23-4,-50 17,0 2,81 7,-32-1,1032-2,-1120 2,1 0,32 9,36 2,21 2,-72-8,48 1,377-7,-220-2,-222 2,0 2,33 7,-31-4,49 3,-26-8,94 15,-83-8,0-3,123-5,-73-2,-42 1,84 3,-39 24,-96-24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14:37.9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14T16:26:39.4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0,'13'1,"0"1,0 0,22 6,24 4,15-8,-50-4,1 1,-1 2,0 0,34 10,-21-3,1-1,74 7,-26-6,129 7,2023-18,-2211 2,0 2,32 7,-30-5,47 4,161-11,61 4,-180 11,-67-6,51 0,427-8,-503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4T16:27:37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FA7DB-C048-47BA-91D8-A785A35B9C47}" type="datetimeFigureOut">
              <a:rPr lang="en-US" smtClean="0"/>
              <a:pPr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1E0EE-0045-48B5-9915-60FD38A9E74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A5216-BB4E-4ABC-970B-D5CCAF6D94DD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A51BD-B6C5-43E3-AC66-7158B05FEC5D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84DB-835C-495D-884A-DAA788A95E42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ED23-0B03-446C-8F88-DCD1E39A7EEF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83A8-ED07-428E-A2A3-DEEF28B83342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3AF9-67C0-441E-8480-1C08520EAA57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79E66-A4D9-4211-8241-8DE469807BE6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90ACA-495D-4EE6-B581-CC188B8318E3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5D15-D71B-48AE-B62E-E470B23CE658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4E7E-2B5C-495B-8F8C-D70CAD028A2D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ED2E1-F621-4D4D-A244-1ABE363098E1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AC898-A770-4670-9AAA-D1C716A92642}" type="datetime1">
              <a:rPr lang="en-US" smtClean="0"/>
              <a:pPr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FE371-8602-434E-A03A-183DD7E4E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lsri2305@gmail.com" TargetMode="External"/><Relationship Id="rId2" Type="http://schemas.openxmlformats.org/officeDocument/2006/relationships/hyperlink" Target="mailto:sutejaskpes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mailto:srinivasks@pes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ocess_(computing)" TargetMode="External"/><Relationship Id="rId2" Type="http://schemas.openxmlformats.org/officeDocument/2006/relationships/hyperlink" Target="https://en.wikipedia.org/wiki/Comput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customXml" Target="../ink/ink8.xml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customXml" Target="../ink/ink12.xml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customXml" Target="../ink/ink15.xml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7.xml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958975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Efficiency Unleashed: Reimagining A-to-B Paths in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9" y="3873092"/>
            <a:ext cx="6934200" cy="1752600"/>
          </a:xfrm>
        </p:spPr>
        <p:txBody>
          <a:bodyPr>
            <a:normAutofit/>
          </a:bodyPr>
          <a:lstStyle/>
          <a:p>
            <a:r>
              <a:rPr lang="en-US" sz="1800" i="1" dirty="0" err="1">
                <a:solidFill>
                  <a:schemeClr val="tx1"/>
                </a:solidFill>
              </a:rPr>
              <a:t>Edas</a:t>
            </a:r>
            <a:r>
              <a:rPr lang="en-US" sz="1800" i="1" dirty="0">
                <a:solidFill>
                  <a:schemeClr val="tx1"/>
                </a:solidFill>
              </a:rPr>
              <a:t> no: 1570961547</a:t>
            </a:r>
          </a:p>
          <a:p>
            <a:endParaRPr lang="en-US" sz="1800" i="1" dirty="0"/>
          </a:p>
          <a:p>
            <a:r>
              <a:rPr lang="en-US" sz="1800" i="1" dirty="0"/>
              <a:t>Sutejas K – </a:t>
            </a:r>
            <a:r>
              <a:rPr lang="en-US" sz="1800" i="1" dirty="0">
                <a:hlinkClick r:id="rId2"/>
              </a:rPr>
              <a:t>sutejaskpes@gmail.com</a:t>
            </a:r>
            <a:r>
              <a:rPr lang="en-US" sz="1800" i="1" dirty="0"/>
              <a:t> – PES University</a:t>
            </a:r>
          </a:p>
          <a:p>
            <a:r>
              <a:rPr lang="en-US" sz="1800" i="1" dirty="0"/>
              <a:t>K S Ramalakshmi – </a:t>
            </a:r>
            <a:r>
              <a:rPr lang="en-US" sz="1800" i="1" dirty="0">
                <a:hlinkClick r:id="rId3"/>
              </a:rPr>
              <a:t>rlsri2305@gmail.com</a:t>
            </a:r>
            <a:r>
              <a:rPr lang="en-US" sz="1800" i="1" dirty="0"/>
              <a:t> – PES University</a:t>
            </a:r>
          </a:p>
          <a:p>
            <a:r>
              <a:rPr lang="en-US" sz="1800" i="1" dirty="0"/>
              <a:t>Srinivas K S – </a:t>
            </a:r>
            <a:r>
              <a:rPr lang="en-US" sz="1800" i="1" dirty="0">
                <a:hlinkClick r:id="rId4"/>
              </a:rPr>
              <a:t>srinivasks@pes.edu</a:t>
            </a:r>
            <a:r>
              <a:rPr lang="en-US" sz="1800" i="1" dirty="0"/>
              <a:t> – PES University</a:t>
            </a:r>
          </a:p>
          <a:p>
            <a:endParaRPr lang="en-US" sz="1800" i="1" dirty="0"/>
          </a:p>
          <a:p>
            <a:endParaRPr lang="en-US" sz="18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74A37-993E-3697-2372-215F74025C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28600"/>
            <a:ext cx="3600000" cy="10009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sz="2000" dirty="0"/>
              <a:t>Motivation</a:t>
            </a:r>
          </a:p>
          <a:p>
            <a:pPr marL="514350" indent="-514350"/>
            <a:r>
              <a:rPr lang="en-US" sz="2000" dirty="0"/>
              <a:t>Related works</a:t>
            </a:r>
          </a:p>
          <a:p>
            <a:pPr marL="514350" indent="-514350"/>
            <a:r>
              <a:rPr lang="en-US" sz="2000" dirty="0"/>
              <a:t>Proposed  Method</a:t>
            </a:r>
          </a:p>
          <a:p>
            <a:pPr marL="514350" indent="-514350"/>
            <a:r>
              <a:rPr lang="en-US" sz="2000" dirty="0"/>
              <a:t>Results </a:t>
            </a:r>
          </a:p>
          <a:p>
            <a:pPr marL="514350" indent="-514350"/>
            <a:r>
              <a:rPr lang="en-US" sz="2000" dirty="0"/>
              <a:t>Summary</a:t>
            </a:r>
          </a:p>
          <a:p>
            <a:pPr marL="514350" indent="-514350"/>
            <a:r>
              <a:rPr lang="en-US" sz="2000" dirty="0"/>
              <a:t>Future Work</a:t>
            </a:r>
          </a:p>
          <a:p>
            <a:pPr marL="514350" indent="-514350"/>
            <a:r>
              <a:rPr lang="en-US" sz="2000" dirty="0"/>
              <a:t>References            </a:t>
            </a:r>
          </a:p>
          <a:p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Need to address algorithms and techniques that can identify shortest paths in graphs</a:t>
            </a:r>
          </a:p>
          <a:p>
            <a:r>
              <a:rPr lang="en-US" sz="2000" b="0" i="0" dirty="0">
                <a:effectLst/>
                <a:latin typeface="-apple-system"/>
              </a:rPr>
              <a:t>Current approaches lack identification of redundant points, generalization, and parallelization</a:t>
            </a:r>
          </a:p>
          <a:p>
            <a:r>
              <a:rPr lang="en-US" sz="2000" b="0" i="0" dirty="0">
                <a:effectLst/>
                <a:latin typeface="-apple-system"/>
              </a:rPr>
              <a:t>This compromises the speed, space efficiency, and accuracy of the results obtained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107"/>
            <a:ext cx="8229600" cy="1143000"/>
          </a:xfrm>
        </p:spPr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Background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sz="2000" dirty="0"/>
              <a:t>Previous implementations lacked</a:t>
            </a:r>
          </a:p>
          <a:p>
            <a:pPr marL="914400" lvl="1" indent="-514350"/>
            <a:r>
              <a:rPr lang="en-US" sz="2000" dirty="0"/>
              <a:t>Identification of redundant points</a:t>
            </a:r>
          </a:p>
          <a:p>
            <a:pPr marL="914400" lvl="1" indent="-514350"/>
            <a:r>
              <a:rPr lang="en-US" sz="2000" dirty="0"/>
              <a:t>Generalization </a:t>
            </a:r>
          </a:p>
          <a:p>
            <a:pPr marL="914400" lvl="1" indent="-514350"/>
            <a:r>
              <a:rPr lang="en-US" sz="2000" dirty="0"/>
              <a:t>Parallelization, </a:t>
            </a:r>
          </a:p>
          <a:p>
            <a:pPr marL="400050" lvl="1" indent="0">
              <a:buNone/>
            </a:pPr>
            <a:r>
              <a:rPr lang="en-US" sz="2000" dirty="0"/>
              <a:t>compromising the speed, space efficiency, and accuracy of the results delivered.</a:t>
            </a:r>
          </a:p>
          <a:p>
            <a:pPr marL="514350" indent="-514350"/>
            <a:r>
              <a:rPr lang="en-US" sz="2000" dirty="0"/>
              <a:t>Techniques were designed for integer graphs without generalization</a:t>
            </a:r>
          </a:p>
          <a:p>
            <a:pPr marL="514350" indent="-514350"/>
            <a:r>
              <a:rPr lang="en-US" sz="2000" dirty="0"/>
              <a:t>These limitations underscore the need for novel algorithmic enhancements and parallelization techniques to address the computational demands of modern applications.</a:t>
            </a:r>
          </a:p>
          <a:p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Proposed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u="sng" dirty="0"/>
              <a:t>The Concept of Parallelization</a:t>
            </a:r>
          </a:p>
          <a:p>
            <a:pPr algn="just"/>
            <a:r>
              <a:rPr lang="en-US" sz="2000" dirty="0"/>
              <a:t>Parallelization is a type of </a:t>
            </a:r>
            <a:r>
              <a:rPr lang="en-US" sz="2000" dirty="0">
                <a:hlinkClick r:id="rId2" tooltip="Compu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computation</a:t>
            </a:r>
            <a:r>
              <a:rPr lang="en-US" sz="2000" dirty="0"/>
              <a:t> in which many calculations or </a:t>
            </a:r>
            <a:r>
              <a:rPr lang="en-US" sz="2000" dirty="0">
                <a:hlinkClick r:id="rId3" tooltip="Process (computing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processes</a:t>
            </a:r>
            <a:r>
              <a:rPr lang="en-US" sz="2000" dirty="0"/>
              <a:t> are carried out simultaneously.</a:t>
            </a:r>
          </a:p>
          <a:p>
            <a:pPr algn="just"/>
            <a:r>
              <a:rPr lang="en-US" sz="2000" dirty="0"/>
              <a:t>This concept is applied to the algorithms for finding shortest paths to give improved results.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Proposed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/>
          </a:bodyPr>
          <a:lstStyle/>
          <a:p>
            <a:pPr marL="514350" indent="-514350" algn="just"/>
            <a:r>
              <a:rPr lang="en-US" b="1" dirty="0"/>
              <a:t>Parallelized Dijkstra’s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14:cNvPr>
              <p14:cNvContentPartPr/>
              <p14:nvPr/>
            </p14:nvContentPartPr>
            <p14:xfrm>
              <a:off x="-2909635" y="11012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963635" y="993256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7541F86-FC4A-163C-B54B-F9F327712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2247396"/>
            <a:ext cx="5562600" cy="44740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315C62C-B967-2005-24AF-1624D0A02AF6}"/>
                  </a:ext>
                </a:extLst>
              </p14:cNvPr>
              <p14:cNvContentPartPr/>
              <p14:nvPr/>
            </p14:nvContentPartPr>
            <p14:xfrm>
              <a:off x="2285885" y="3824656"/>
              <a:ext cx="1557360" cy="62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315C62C-B967-2005-24AF-1624D0A02A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1885" y="3716656"/>
                <a:ext cx="16650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0269388-C16A-1A37-80C1-FB9E22384116}"/>
                  </a:ext>
                </a:extLst>
              </p14:cNvPr>
              <p14:cNvContentPartPr/>
              <p14:nvPr/>
            </p14:nvContentPartPr>
            <p14:xfrm>
              <a:off x="2483165" y="4831216"/>
              <a:ext cx="2155680" cy="73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0269388-C16A-1A37-80C1-FB9E223841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29525" y="4723216"/>
                <a:ext cx="2263320" cy="2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272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Proposed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algn="just"/>
            <a:r>
              <a:rPr lang="en-US" b="1" dirty="0"/>
              <a:t>Parallelized Dijkstra’s Algorithm</a:t>
            </a:r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r>
              <a:rPr lang="en-US" sz="2400" b="1" dirty="0"/>
              <a:t>Time Complexity 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14:cNvPr>
              <p14:cNvContentPartPr/>
              <p14:nvPr/>
            </p14:nvContentPartPr>
            <p14:xfrm>
              <a:off x="-2909635" y="11012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963635" y="993256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7DFC52E-5908-267A-D2DC-04B130E09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2335265"/>
            <a:ext cx="5699398" cy="29225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C1941A0-CCE8-DCAD-20A4-660D4C9B5208}"/>
                  </a:ext>
                </a:extLst>
              </p14:cNvPr>
              <p14:cNvContentPartPr/>
              <p14:nvPr/>
            </p14:nvContentPartPr>
            <p14:xfrm>
              <a:off x="2209800" y="2590800"/>
              <a:ext cx="1579320" cy="31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C1941A0-CCE8-DCAD-20A4-660D4C9B52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55788" y="2482800"/>
                <a:ext cx="1686985" cy="24696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7A344A98-DFF7-5A60-4A6C-3A3DC588FD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0644" y="5202082"/>
            <a:ext cx="2922556" cy="71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0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Proposed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/>
            <a:r>
              <a:rPr lang="en-US" b="1" dirty="0"/>
              <a:t>Parallelized A* Heuristic 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14:cNvPr>
              <p14:cNvContentPartPr/>
              <p14:nvPr/>
            </p14:nvContentPartPr>
            <p14:xfrm>
              <a:off x="-2909635" y="11012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963635" y="993256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8F1FA71-9AE2-E924-0679-8FAF5B2AC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813" y="2362200"/>
            <a:ext cx="6314374" cy="3565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6233ED7-739A-5A63-0866-677A15E23D0A}"/>
                  </a:ext>
                </a:extLst>
              </p14:cNvPr>
              <p14:cNvContentPartPr/>
              <p14:nvPr/>
            </p14:nvContentPartPr>
            <p14:xfrm>
              <a:off x="1963685" y="3999616"/>
              <a:ext cx="1817640" cy="2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6233ED7-739A-5A63-0866-677A15E23D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10045" y="3891976"/>
                <a:ext cx="19252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D41E62-331A-F1BD-D242-081695CD372E}"/>
                  </a:ext>
                </a:extLst>
              </p14:cNvPr>
              <p14:cNvContentPartPr/>
              <p14:nvPr/>
            </p14:nvContentPartPr>
            <p14:xfrm>
              <a:off x="2244125" y="5184736"/>
              <a:ext cx="2805480" cy="6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D41E62-331A-F1BD-D242-081695CD37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90125" y="5077096"/>
                <a:ext cx="2913120" cy="27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4743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Proposed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algn="just"/>
            <a:r>
              <a:rPr lang="en-US" b="1" dirty="0"/>
              <a:t>Parallelized A* Heuristic Search</a:t>
            </a:r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r>
              <a:rPr lang="en-US" sz="2400" b="1" dirty="0"/>
              <a:t>Time Complexity: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14:cNvPr>
              <p14:cNvContentPartPr/>
              <p14:nvPr/>
            </p14:nvContentPartPr>
            <p14:xfrm>
              <a:off x="-2909635" y="11012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963635" y="993256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95E5D0C-D1F4-5C04-36C9-F7BEAD8F2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2362200"/>
            <a:ext cx="5562600" cy="27691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DB1420-9B96-FB44-E981-06DB348BB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5212844"/>
            <a:ext cx="2619360" cy="68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08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Proposed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/>
            <a:r>
              <a:rPr lang="en-US" b="1" dirty="0"/>
              <a:t>Parallelized Bellman Ford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14:cNvPr>
              <p14:cNvContentPartPr/>
              <p14:nvPr/>
            </p14:nvContentPartPr>
            <p14:xfrm>
              <a:off x="-2909635" y="11012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963635" y="993256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2DFB4DD-82B5-A88A-47E8-F67AB61C1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2372591"/>
            <a:ext cx="5973773" cy="3763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A1DD70-4396-62E3-6557-AC55CCF45AB5}"/>
                  </a:ext>
                </a:extLst>
              </p14:cNvPr>
              <p14:cNvContentPartPr/>
              <p14:nvPr/>
            </p14:nvContentPartPr>
            <p14:xfrm>
              <a:off x="2400365" y="3961096"/>
              <a:ext cx="2480040" cy="42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A1DD70-4396-62E3-6557-AC55CCF45A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6365" y="3853456"/>
                <a:ext cx="25876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97E876F-4D9A-4D51-B3F6-8A2EC5CC451D}"/>
                  </a:ext>
                </a:extLst>
              </p14:cNvPr>
              <p14:cNvContentPartPr/>
              <p14:nvPr/>
            </p14:nvContentPartPr>
            <p14:xfrm>
              <a:off x="2618165" y="4176376"/>
              <a:ext cx="2381040" cy="21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97E876F-4D9A-4D51-B3F6-8A2EC5CC451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64525" y="4068376"/>
                <a:ext cx="2488680" cy="2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553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Proposed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/>
            <a:r>
              <a:rPr lang="en-US" b="1" dirty="0"/>
              <a:t>Parallelized Bellman Ford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14:cNvPr>
              <p14:cNvContentPartPr/>
              <p14:nvPr/>
            </p14:nvContentPartPr>
            <p14:xfrm>
              <a:off x="-2909635" y="11012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963635" y="993256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0A8E072-6078-2501-2003-913F7A8F7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502" y="2438400"/>
            <a:ext cx="5914995" cy="2590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2F888E-6183-23FA-9250-21CB0FF111B1}"/>
                  </a:ext>
                </a:extLst>
              </p14:cNvPr>
              <p14:cNvContentPartPr/>
              <p14:nvPr/>
            </p14:nvContentPartPr>
            <p14:xfrm>
              <a:off x="2160965" y="2846176"/>
              <a:ext cx="2401200" cy="7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2F888E-6183-23FA-9250-21CB0FF111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07325" y="2738536"/>
                <a:ext cx="250884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848F2CA-E764-DB46-CBB9-2E89CA2F670A}"/>
                  </a:ext>
                </a:extLst>
              </p14:cNvPr>
              <p14:cNvContentPartPr/>
              <p14:nvPr/>
            </p14:nvContentPartPr>
            <p14:xfrm>
              <a:off x="2430965" y="3053176"/>
              <a:ext cx="2295720" cy="54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848F2CA-E764-DB46-CBB9-2E89CA2F67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77325" y="2945176"/>
                <a:ext cx="2403360" cy="26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509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Proposed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algn="just"/>
            <a:r>
              <a:rPr lang="en-US" b="1" dirty="0"/>
              <a:t>Parallelized Bellman Ford Algorithm</a:t>
            </a:r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endParaRPr lang="en-US" b="1" dirty="0"/>
          </a:p>
          <a:p>
            <a:pPr marL="514350" indent="-514350" algn="just"/>
            <a:r>
              <a:rPr lang="en-US" sz="2400" b="1" dirty="0"/>
              <a:t>Time Complexity: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14:cNvPr>
              <p14:cNvContentPartPr/>
              <p14:nvPr/>
            </p14:nvContentPartPr>
            <p14:xfrm>
              <a:off x="-2909635" y="11012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387373-2377-29CD-244A-CDA84E1A74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963635" y="993256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17C145A-E786-B7DC-2525-CC3217E4E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2336767"/>
            <a:ext cx="5791200" cy="29505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5AC539-1A69-37F1-EDBA-5035AC131E56}"/>
                  </a:ext>
                </a:extLst>
              </p14:cNvPr>
              <p14:cNvContentPartPr/>
              <p14:nvPr/>
            </p14:nvContentPartPr>
            <p14:xfrm>
              <a:off x="2182490" y="2576028"/>
              <a:ext cx="1680480" cy="59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5AC539-1A69-37F1-EDBA-5035AC131E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28850" y="2468028"/>
                <a:ext cx="1788120" cy="2754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BF83BF4-733A-2207-A45C-A4BC4B1518A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061"/>
          <a:stretch/>
        </p:blipFill>
        <p:spPr>
          <a:xfrm>
            <a:off x="3429000" y="5181600"/>
            <a:ext cx="2133600" cy="7047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C9064AA-B028-4C36-BE59-A3A097C8D7FB}"/>
                  </a:ext>
                </a:extLst>
              </p14:cNvPr>
              <p14:cNvContentPartPr/>
              <p14:nvPr/>
            </p14:nvContentPartPr>
            <p14:xfrm>
              <a:off x="4886450" y="518134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9064AA-B028-4C36-BE59-A3A097C8D7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23810" y="5118708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119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u="sng" dirty="0"/>
              <a:t>Dataset used for experimentation</a:t>
            </a:r>
          </a:p>
          <a:p>
            <a:pPr algn="just"/>
            <a:r>
              <a:rPr lang="en-US" sz="2000" dirty="0"/>
              <a:t>New York City benchmark graph dataset consisting of directed graphs</a:t>
            </a:r>
          </a:p>
          <a:p>
            <a:pPr lvl="1" algn="just"/>
            <a:r>
              <a:rPr lang="en-US" sz="2000" dirty="0"/>
              <a:t> Node counts: from 108 to 4882 </a:t>
            </a:r>
          </a:p>
          <a:p>
            <a:pPr lvl="1" algn="just"/>
            <a:r>
              <a:rPr lang="en-US" sz="2000" dirty="0"/>
              <a:t> Edge counts: from 290 to 14110</a:t>
            </a:r>
            <a:endParaRPr lang="en-US" sz="2000" b="1" u="sn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9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229600" cy="48307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/>
              <a:t>Parallelized Dijkstra’s Algorithm</a:t>
            </a:r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E9C189-9EC9-BACD-8D1D-85058F9110EF}"/>
              </a:ext>
            </a:extLst>
          </p:cNvPr>
          <p:cNvGrpSpPr/>
          <p:nvPr/>
        </p:nvGrpSpPr>
        <p:grpSpPr>
          <a:xfrm>
            <a:off x="1062324" y="2362200"/>
            <a:ext cx="7019351" cy="3563863"/>
            <a:chOff x="1286447" y="1524000"/>
            <a:chExt cx="6571105" cy="30589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B4EB69B-D02B-E9BD-D757-51DCFB718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6447" y="1524000"/>
              <a:ext cx="6571105" cy="305896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3B6280-FBEC-34F3-E767-AB45353B9F46}"/>
                </a:ext>
              </a:extLst>
            </p:cNvPr>
            <p:cNvSpPr/>
            <p:nvPr/>
          </p:nvSpPr>
          <p:spPr>
            <a:xfrm>
              <a:off x="1371600" y="1524000"/>
              <a:ext cx="6096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59323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229600" cy="48307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/>
              <a:t>Parallelized A* Heuristic Search</a:t>
            </a:r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062A4-9AAA-20F2-B3D9-D7CAA3515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553" y="2232776"/>
            <a:ext cx="6484893" cy="41260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33D24B-5069-EF37-5EB7-C5E25FC6A049}"/>
              </a:ext>
            </a:extLst>
          </p:cNvPr>
          <p:cNvSpPr/>
          <p:nvPr/>
        </p:nvSpPr>
        <p:spPr>
          <a:xfrm>
            <a:off x="1329553" y="2232776"/>
            <a:ext cx="727847" cy="327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864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8229600" cy="48307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/>
              <a:t>Parallelized Bellman Ford Algorithm</a:t>
            </a:r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b="1" u="sng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33D24B-5069-EF37-5EB7-C5E25FC6A049}"/>
              </a:ext>
            </a:extLst>
          </p:cNvPr>
          <p:cNvSpPr/>
          <p:nvPr/>
        </p:nvSpPr>
        <p:spPr>
          <a:xfrm>
            <a:off x="1329553" y="2232776"/>
            <a:ext cx="727847" cy="3278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B805F-7642-650A-8091-099CA4421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" y="2133600"/>
            <a:ext cx="7391400" cy="40122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C35D72-F013-F804-DE09-386A60DAAB78}"/>
              </a:ext>
            </a:extLst>
          </p:cNvPr>
          <p:cNvSpPr/>
          <p:nvPr/>
        </p:nvSpPr>
        <p:spPr>
          <a:xfrm>
            <a:off x="876299" y="2133600"/>
            <a:ext cx="72784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645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Research Focus on 2 key enhancements</a:t>
            </a:r>
          </a:p>
          <a:p>
            <a:pPr lvl="1"/>
            <a:r>
              <a:rPr lang="en-US" sz="2000" dirty="0"/>
              <a:t> Utilizing </a:t>
            </a:r>
            <a:r>
              <a:rPr lang="en-US" sz="2000" dirty="0" err="1"/>
              <a:t>hashmap</a:t>
            </a:r>
            <a:r>
              <a:rPr lang="en-US" sz="2000" dirty="0"/>
              <a:t> encoding</a:t>
            </a:r>
          </a:p>
          <a:p>
            <a:pPr lvl="1"/>
            <a:r>
              <a:rPr lang="en-US" sz="2000" dirty="0"/>
              <a:t> Implementing parallelization</a:t>
            </a:r>
          </a:p>
          <a:p>
            <a:r>
              <a:rPr lang="en-US" sz="2400" dirty="0"/>
              <a:t>Optimizing graph theory algorithms, particularly shortest path search – helps in routing and resource management</a:t>
            </a:r>
          </a:p>
          <a:p>
            <a:pPr lvl="1"/>
            <a:r>
              <a:rPr lang="en-US" sz="2000" dirty="0"/>
              <a:t> Reduced computational complexity </a:t>
            </a:r>
          </a:p>
          <a:p>
            <a:pPr lvl="1"/>
            <a:r>
              <a:rPr lang="en-US" sz="2000" dirty="0"/>
              <a:t> Enhanced practicality  </a:t>
            </a:r>
          </a:p>
          <a:p>
            <a:pPr marL="514350" indent="-514350"/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9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sz="2400" dirty="0"/>
              <a:t>Extending implementation to other algorithms </a:t>
            </a:r>
          </a:p>
          <a:p>
            <a:pPr marL="914400" lvl="1" indent="-514350"/>
            <a:r>
              <a:rPr lang="en-US" sz="2000" dirty="0"/>
              <a:t>Johnson’s Algorithm, etc.</a:t>
            </a:r>
          </a:p>
          <a:p>
            <a:pPr marL="514350" indent="-514350"/>
            <a:r>
              <a:rPr lang="en-US" sz="2400" dirty="0"/>
              <a:t>Parallelizing other graph algorithms</a:t>
            </a:r>
          </a:p>
          <a:p>
            <a:pPr marL="914400" lvl="1" indent="-514350"/>
            <a:r>
              <a:rPr lang="en-US" sz="2000" dirty="0"/>
              <a:t>Minimum Spanning Tree</a:t>
            </a:r>
          </a:p>
          <a:p>
            <a:pPr marL="914400" lvl="1" indent="-514350"/>
            <a:r>
              <a:rPr lang="en-US" sz="2000" dirty="0"/>
              <a:t>Centrality Measures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9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b="1" u="sng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000" dirty="0"/>
              <a:t>[1] Fan, D., Shi, P.: Improvement of </a:t>
            </a:r>
            <a:r>
              <a:rPr lang="en-IN" sz="2000" dirty="0" err="1"/>
              <a:t>dijkstra’s</a:t>
            </a:r>
            <a:r>
              <a:rPr lang="en-IN" sz="2000" dirty="0"/>
              <a:t> algorithm and its application in route planning. In: 2010 Seventh International Conference on Fuzzy Systems and Knowledge Discovery, vol. 4, pp. 1901–1904 (2010). IEEE </a:t>
            </a:r>
          </a:p>
          <a:p>
            <a:pPr marL="0" indent="0">
              <a:buNone/>
            </a:pPr>
            <a:r>
              <a:rPr lang="en-IN" sz="2000" dirty="0"/>
              <a:t>[2] Huang, Y.: Research on the improvement of </a:t>
            </a:r>
            <a:r>
              <a:rPr lang="en-IN" sz="2000" dirty="0" err="1"/>
              <a:t>dijkstra</a:t>
            </a:r>
            <a:r>
              <a:rPr lang="en-IN" sz="2000" dirty="0"/>
              <a:t> algorithm in the shortest path calculation. In: 2017 4th International Conference on Machinery, Materials and Computer (MACMC 2017), pp. 745–749 (2018). Atlantis Press </a:t>
            </a:r>
          </a:p>
          <a:p>
            <a:pPr marL="0" indent="0">
              <a:buNone/>
            </a:pPr>
            <a:r>
              <a:rPr lang="en-IN" sz="2000" dirty="0"/>
              <a:t>[3] Xie, D., Zhu, H., Yan, L., Yuan, S., Zhang, J.: An improved </a:t>
            </a:r>
            <a:r>
              <a:rPr lang="en-IN" sz="2000" dirty="0" err="1"/>
              <a:t>dijkstra</a:t>
            </a:r>
            <a:r>
              <a:rPr lang="en-IN" sz="2000" dirty="0"/>
              <a:t> algorithm in </a:t>
            </a:r>
            <a:r>
              <a:rPr lang="en-IN" sz="2000" dirty="0" err="1"/>
              <a:t>gis</a:t>
            </a:r>
            <a:r>
              <a:rPr lang="en-IN" sz="2000" dirty="0"/>
              <a:t> application. In: World Automation Congress 2012, pp. 167–169 (2012). IEEE </a:t>
            </a:r>
          </a:p>
          <a:p>
            <a:pPr marL="0" indent="0">
              <a:buNone/>
            </a:pPr>
            <a:r>
              <a:rPr lang="en-IN" sz="2000" dirty="0"/>
              <a:t>[4] Zhu, Z., Li, L., Wu, W., Jiao, Y.: Application of improved </a:t>
            </a:r>
            <a:r>
              <a:rPr lang="en-IN" sz="2000" dirty="0" err="1"/>
              <a:t>dijkstra</a:t>
            </a:r>
            <a:r>
              <a:rPr lang="en-IN" sz="2000" dirty="0"/>
              <a:t> algorithm in intelligent ship path planning. In: 2021 33rd Chinese Control and Decision Conference (CCDC), pp. 4926–4931 (2021). IEEE </a:t>
            </a:r>
            <a:r>
              <a:rPr lang="en-US" sz="2000" dirty="0"/>
              <a:t>          </a:t>
            </a:r>
          </a:p>
          <a:p>
            <a:pPr marL="0" indent="0">
              <a:buNone/>
            </a:pPr>
            <a:r>
              <a:rPr lang="en-IN" sz="2000" dirty="0"/>
              <a:t>[5] Ju, C., Luo, Q., Yan, X.: Path planning using an improved a-star algorithm. In: 2020 11th International Conference on Prognostics and System Health Management (PHM-2020 Jinan), pp. 23–26 (2020). IEEE 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9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[6] Yao, J., Lin, C., Xie, X., Wang, A.J., Hung, C.-C.: Path planning for virtual human motion using improved a* star algorithm. In: 2010 Seventh International Conference on Information Technology: New Generations, pp. 1154–1158 (2010). IEEE </a:t>
            </a:r>
          </a:p>
          <a:p>
            <a:pPr marL="0" indent="0">
              <a:buNone/>
            </a:pPr>
            <a:r>
              <a:rPr lang="en-IN" sz="2000" dirty="0"/>
              <a:t>[7] Hong, Z., Sun, P., Tong, X., Pan, H., Zhou, R., Zhang, Y., Han, Y., Wang, J., Yang, S., Xu, L.: Improved a-star algorithm for long-distance off-road path planning using terrain data map. ISPRS International Journal of Geo-Information 10(11), 785 (2021) </a:t>
            </a:r>
          </a:p>
          <a:p>
            <a:pPr marL="0" indent="0">
              <a:buNone/>
            </a:pPr>
            <a:r>
              <a:rPr lang="en-IN" sz="2000" dirty="0"/>
              <a:t>[8] Zheng, T., Xu, Y., Zheng, D.: </a:t>
            </a:r>
            <a:r>
              <a:rPr lang="en-IN" sz="2000" dirty="0" err="1"/>
              <a:t>Agv</a:t>
            </a:r>
            <a:r>
              <a:rPr lang="en-IN" sz="2000" dirty="0"/>
              <a:t> path planning based on improved a-star algorithm. In: 2019 IEEE 3rd Advanced Information Management, Communicates, Electronic and Automation Control Conference (IMCEC), pp. 1534–1538 (2019). IEEE </a:t>
            </a:r>
          </a:p>
          <a:p>
            <a:pPr marL="0" indent="0">
              <a:buNone/>
            </a:pPr>
            <a:r>
              <a:rPr lang="en-IN" sz="2000" dirty="0"/>
              <a:t>[9] </a:t>
            </a:r>
            <a:r>
              <a:rPr lang="en-IN" sz="2000" dirty="0" err="1"/>
              <a:t>Busato</a:t>
            </a:r>
            <a:r>
              <a:rPr lang="en-IN" sz="2000" dirty="0"/>
              <a:t>, F., </a:t>
            </a:r>
            <a:r>
              <a:rPr lang="en-IN" sz="2000" dirty="0" err="1"/>
              <a:t>Bombieri</a:t>
            </a:r>
            <a:r>
              <a:rPr lang="en-IN" sz="2000" dirty="0"/>
              <a:t>, N.: An efficient implementation of the bellman-ford algorithm for </a:t>
            </a:r>
            <a:r>
              <a:rPr lang="en-IN" sz="2000" dirty="0" err="1"/>
              <a:t>kepler</a:t>
            </a:r>
            <a:r>
              <a:rPr lang="en-IN" sz="2000" dirty="0"/>
              <a:t> </a:t>
            </a:r>
            <a:r>
              <a:rPr lang="en-IN" sz="2000" dirty="0" err="1"/>
              <a:t>gpu</a:t>
            </a:r>
            <a:r>
              <a:rPr lang="en-IN" sz="2000" dirty="0"/>
              <a:t> architectures. IEEE Transactions on Parallel and Distributed Systems 27(8), 2222–2233 (2015)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E371-8602-434E-A03A-183DD7E4EEA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6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811</Words>
  <Application>Microsoft Office PowerPoint</Application>
  <PresentationFormat>On-screen Show (4:3)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-apple-system</vt:lpstr>
      <vt:lpstr>Arial</vt:lpstr>
      <vt:lpstr>Calibri</vt:lpstr>
      <vt:lpstr>Office Theme</vt:lpstr>
      <vt:lpstr>Efficiency Unleashed: Reimagining A-to-B Paths in Graphs</vt:lpstr>
      <vt:lpstr>Outline</vt:lpstr>
      <vt:lpstr>Motivation</vt:lpstr>
      <vt:lpstr>Background information</vt:lpstr>
      <vt:lpstr>Proposed Methods</vt:lpstr>
      <vt:lpstr>Proposed Methods</vt:lpstr>
      <vt:lpstr>Proposed Methods</vt:lpstr>
      <vt:lpstr>Proposed Methods</vt:lpstr>
      <vt:lpstr>Proposed Methods</vt:lpstr>
      <vt:lpstr>Proposed Methods</vt:lpstr>
      <vt:lpstr>Proposed Methods</vt:lpstr>
      <vt:lpstr>Proposed Methods</vt:lpstr>
      <vt:lpstr>Results</vt:lpstr>
      <vt:lpstr>Results</vt:lpstr>
      <vt:lpstr>Results</vt:lpstr>
      <vt:lpstr>Results</vt:lpstr>
      <vt:lpstr>Summary</vt:lpstr>
      <vt:lpstr>Future Work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</dc:title>
  <dc:creator>IIITM-K</dc:creator>
  <cp:lastModifiedBy>sutejas k</cp:lastModifiedBy>
  <cp:revision>18</cp:revision>
  <dcterms:created xsi:type="dcterms:W3CDTF">2015-11-18T04:42:35Z</dcterms:created>
  <dcterms:modified xsi:type="dcterms:W3CDTF">2023-12-19T10:09:45Z</dcterms:modified>
</cp:coreProperties>
</file>